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GMV by Category (bn VND)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(bn VND)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Backpacks &amp; Suitcases</c:v>
                </c:pt>
                <c:pt idx="1">
                  <c:v>Men Bags</c:v>
                </c:pt>
                <c:pt idx="2">
                  <c:v>Women Shoes</c:v>
                </c:pt>
                <c:pt idx="3">
                  <c:v>Men Shoes</c:v>
                </c:pt>
                <c:pt idx="4">
                  <c:v>Fashion Accessories</c:v>
                </c:pt>
                <c:pt idx="5">
                  <c:v>Women Bags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29.1</c:v>
                </c:pt>
                <c:pt idx="1">
                  <c:v>21.4</c:v>
                </c:pt>
                <c:pt idx="2">
                  <c:v>18.2</c:v>
                </c:pt>
                <c:pt idx="3">
                  <c:v>16.5</c:v>
                </c:pt>
                <c:pt idx="4">
                  <c:v>14</c:v>
                </c:pt>
                <c:pt idx="5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14-428B-94F7-0FD3FEA394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Avg Quantity Sold by Discount Tier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units sold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 Discount</c:v>
                </c:pt>
                <c:pt idx="1">
                  <c:v>Small (&lt;10%)</c:v>
                </c:pt>
                <c:pt idx="2">
                  <c:v>Medium (10-30%)</c:v>
                </c:pt>
                <c:pt idx="3">
                  <c:v>Large (30%+)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12.8</c:v>
                </c:pt>
                <c:pt idx="1">
                  <c:v>15.4</c:v>
                </c:pt>
                <c:pt idx="2">
                  <c:v>24.6</c:v>
                </c:pt>
                <c:pt idx="3">
                  <c:v>45.1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9D-47B9-ADDA-36ECA4878D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Avg Quantity Sold by Price Band
(Men Bags category)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units (Men Bags)</c:v>
                </c:pt>
              </c:strCache>
            </c:strRef>
          </c:tx>
          <c:spPr>
            <a:solidFill>
              <a:srgbClr val="C0562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Budget</c:v>
                </c:pt>
                <c:pt idx="1">
                  <c:v>Mid-range</c:v>
                </c:pt>
                <c:pt idx="2">
                  <c:v>Premium</c:v>
                </c:pt>
                <c:pt idx="3">
                  <c:v>Luxury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176.4</c:v>
                </c:pt>
                <c:pt idx="1">
                  <c:v>40.6</c:v>
                </c:pt>
                <c:pt idx="2">
                  <c:v>27.5</c:v>
                </c:pt>
                <c:pt idx="3">
                  <c:v>12.9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01-4367-882B-712364F184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99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12188952" cy="2423160"/>
          </a:xfrm>
          <a:prstGeom prst="rect">
            <a:avLst/>
          </a:prstGeom>
          <a:solidFill>
            <a:srgbClr val="182055"/>
          </a:solidFill>
          <a:ln w="12700">
            <a:solidFill>
              <a:srgbClr val="1820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TIKI VIETNAM E-COMMERCE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performance, pricing strategy, and seller operations across the fashion &amp; accessories market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46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Trọng   |   Portfolio Project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257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github.com/Nguyentrong243/Tiki-E-commerce-Analysis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from raw Tiki listings to business insight — Python, SQL, and Power BI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270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86bn VND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GMV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5270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41,572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Analyzed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5270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739K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0" y="1417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0" y="15270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3,806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2103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54864" cy="3200400"/>
          </a:xfrm>
          <a:prstGeom prst="rect">
            <a:avLst/>
          </a:prstGeom>
          <a:solidFill>
            <a:srgbClr val="C0562A"/>
          </a:solidFill>
          <a:ln w="12700">
            <a:solidFill>
              <a:srgbClr val="C056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834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is concentrated in backpacks &amp; suitcases despite fewer listings than fashion accessories — order size beats catalog volume.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6118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'High Demand – Low Satisfaction' products generate more GMV than genuine Star Products — a potential quality risk.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389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discounts lift average sales, but full-price listings still drive most GMV due to sheer volume (~78% of catalog).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1663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Video-enabled listings more than double average GMV per product versus listings without video.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Tiki Vietnam E-Commerce Market Analysis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Is Concentrated, Not Evenly Spread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which categories and brands generate the most Gross Merchandise Value?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63093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95160" y="1371600"/>
            <a:ext cx="4754880" cy="1965960"/>
          </a:xfrm>
          <a:prstGeom prst="roundRect">
            <a:avLst>
              <a:gd name="adj" fmla="val 279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22376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Leader: Backpacks &amp; Suitcases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18745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4th-largest category by listing count, but #1 by GMV — average price (~497K VND) is the highest of any category.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995160" y="3520440"/>
            <a:ext cx="4754880" cy="2057400"/>
          </a:xfrm>
          <a:prstGeom prst="roundRect">
            <a:avLst>
              <a:gd name="adj" fmla="val 266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223760" y="3657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brand: HARAS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402336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~3.7B VND GMV from just 54 products — a high-volume, mid-price strategy. Converse reaches similar GMV via a lower-volume, premium approach instead.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Tiki Vietnam E-Commerce Market Analysis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Quarter of Top Sellers Carry a Quality Risk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classified by GMV and rating against the market median (BCG-style quadrant)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1737360"/>
          </a:xfrm>
          <a:prstGeom prst="roundRect">
            <a:avLst>
              <a:gd name="adj" fmla="val 3158"/>
            </a:avLst>
          </a:prstGeom>
          <a:solidFill>
            <a:srgbClr val="1E7A4D"/>
          </a:solidFill>
          <a:ln w="12700">
            <a:solidFill>
              <a:srgbClr val="1E7A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3619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Product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GMV, high rating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97480" cy="1737360"/>
          </a:xfrm>
          <a:prstGeom prst="roundRect">
            <a:avLst>
              <a:gd name="adj" fmla="val 3158"/>
            </a:avLst>
          </a:prstGeom>
          <a:solidFill>
            <a:srgbClr val="C0562A"/>
          </a:solidFill>
          <a:ln w="12700">
            <a:solidFill>
              <a:srgbClr val="C056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53619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 –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Satisfaction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GMV, low rating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2697480" cy="1737360"/>
          </a:xfrm>
          <a:prstGeom prst="roundRect">
            <a:avLst>
              <a:gd name="adj" fmla="val 3158"/>
            </a:avLst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41071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Gem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480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GMV, high rating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3246120"/>
            <a:ext cx="2697480" cy="1737360"/>
          </a:xfrm>
          <a:prstGeom prst="roundRect">
            <a:avLst>
              <a:gd name="adj" fmla="val 3158"/>
            </a:avLst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29000" y="341071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4480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GMV, low rating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371600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1965960"/>
            <a:ext cx="5029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'High Demand – Low Satisfaction' is the single largest GMV contributor of the four segments — larger than genuine Star Products.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a meaningful share of the platform's best-selling products carry below-average ratings: a potential quality risk that could affect retention if unaddressed.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is the only quality signal in this dataset, so the exact cause (product, delivery, or service) can't be confirmed here — but the pattern is large enough to warrant investigation.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Tiki Vietnam E-Commerce Market Analysis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Pricing Wins on Volume, Not Discounts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questions: which price segments perform best, and do discounts actually work?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17920" y="141732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Full-price listings (~78% of the catalog) still generate the most total GMV — larger discounts lift average sales but don't outweigh sheer volume.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Tiki Vietnam E-Commerce Market Analysis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Doesn't Guarantee Top Ratings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questions: which sellers drive performance, and does richer content help sales?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4160520"/>
          </a:xfrm>
          <a:prstGeom prst="roundRect">
            <a:avLst>
              <a:gd name="adj" fmla="val 131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Performance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HARASMALL leads with ~3.85B VND GMV and a strong 3.99 rating.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several other top-15 sellers by GMV — House Of Luggage, WearVN — show ratings of just 1.6-2.0 despite high revenue.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Separately, a cluster of sellers with 20+ listings recorded zero units sold: likely dormant accounts worth flagging for operational review.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486400" cy="4160520"/>
          </a:xfrm>
          <a:prstGeom prst="roundRect">
            <a:avLst>
              <a:gd name="adj" fmla="val 131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Content Quality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9659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Video-enabled listings average 34.3 units sold vs 15.9 without — more than double — alongside a notably higher rating (2.35 vs 1.27).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with 10+ images average 42.1 units sold, vs 14.3-15.6 for listings with 4-10 images.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Pay-later availability tracks with higher-ticket items (513K vs 79K VND avg price), rather than acting as a broad sales driver.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Tiki Vietnam E-Commerce Market Analysis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focus first, based on the patterns above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459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184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quality risk first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0312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'High Demand – Low Satisfaction' products — the single largest concentrated risk to GMV in the catalog.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459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6184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video content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10312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sellers toward adding product video, given its strong association with both sales volume and rating.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840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8130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dormant sellers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29768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sellers with 20+ listings and zero recorded sales for account-status issues.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61188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840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8130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to category norms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29768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budget-tier pricing for new listings — it outperforms premium/luxury tiers in nearly every category.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Tiki Vietnam E-Commerce Market Analysis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Interactive Dashboard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4028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3-page Power BI report — Executive Overview, Product &amp; Pricing Drill-down, and Partner &amp; Operational Performance — is available in the project repository as a downloadable .pbix file.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480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github.com/Nguyentrong243/Tiki-E-commerce-Analysis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29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777</Words>
  <Application>Microsoft Office PowerPoint</Application>
  <PresentationFormat>Widescreen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Nguyen Phuc Trong</cp:lastModifiedBy>
  <cp:revision>2</cp:revision>
  <dcterms:created xsi:type="dcterms:W3CDTF">2026-08-27T08:59:54Z</dcterms:created>
  <dcterms:modified xsi:type="dcterms:W3CDTF">2026-08-27T09:01:32Z</dcterms:modified>
</cp:coreProperties>
</file>