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GMV by Category (bn VND)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(bn VND)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Backpacks &amp; Suitcases</c:v>
                </c:pt>
                <c:pt idx="1">
                  <c:v>Men Bags</c:v>
                </c:pt>
                <c:pt idx="2">
                  <c:v>Women Shoes</c:v>
                </c:pt>
                <c:pt idx="3">
                  <c:v>Men Shoes</c:v>
                </c:pt>
                <c:pt idx="4">
                  <c:v>Fashion Accessories</c:v>
                </c:pt>
                <c:pt idx="5">
                  <c:v>Women Bags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29.1</c:v>
                </c:pt>
                <c:pt idx="1">
                  <c:v>21.4</c:v>
                </c:pt>
                <c:pt idx="2">
                  <c:v>18.2</c:v>
                </c:pt>
                <c:pt idx="3">
                  <c:v>16.5</c:v>
                </c:pt>
                <c:pt idx="4">
                  <c:v>14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E8-4D77-B1C5-8D87D8CECF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Avg Quantity Sold by Discount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Small (&lt;10%)</c:v>
                </c:pt>
                <c:pt idx="2">
                  <c:v>Medium (10-30%)</c:v>
                </c:pt>
                <c:pt idx="3">
                  <c:v>Large (30%+)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12.8</c:v>
                </c:pt>
                <c:pt idx="1">
                  <c:v>15.4</c:v>
                </c:pt>
                <c:pt idx="2">
                  <c:v>24.6</c:v>
                </c:pt>
                <c:pt idx="3">
                  <c:v>45.1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19-47FC-BD15-CEB3F205C2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Avg Quantity Sold by Price Band
(Men Bags category)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(Men Bags)</c:v>
                </c:pt>
              </c:strCache>
            </c:strRef>
          </c:tx>
          <c:spPr>
            <a:solidFill>
              <a:srgbClr val="C056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Mid-range</c:v>
                </c:pt>
                <c:pt idx="2">
                  <c:v>Premium</c:v>
                </c:pt>
                <c:pt idx="3">
                  <c:v>Luxury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176.4</c:v>
                </c:pt>
                <c:pt idx="1">
                  <c:v>40.6</c:v>
                </c:pt>
                <c:pt idx="2">
                  <c:v>27.5</c:v>
                </c:pt>
                <c:pt idx="3">
                  <c:v>12.9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45-4E5C-A2F9-C3ED26FB9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909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82055"/>
          </a:solidFill>
          <a:ln w="12700">
            <a:solidFill>
              <a:srgbClr val="1820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performance, pricing strategy, and seller operations across the fashion &amp; accessories market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Portfolio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github.com/Nguyentrong243/Tiki-E-commerce-Analysis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from raw Tiki listings to business insight — Python, SQL, and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86bn VND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GMV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41,572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Analyzed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739K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54864" cy="3200400"/>
          </a:xfrm>
          <a:prstGeom prst="rect">
            <a:avLst/>
          </a:prstGeom>
          <a:solidFill>
            <a:srgbClr val="C0562A"/>
          </a:solidFill>
          <a:ln w="12700">
            <a:solidFill>
              <a:srgbClr val="C056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834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is concentrated in backpacks &amp; suitcases despite fewer listings than fashion accessories — order size beats catalog volume.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11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'High Demand – Low Satisfaction' products generate more GMV than genuine Star Products — a potential quality risk.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89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discounts lift average sales, but full-price listings still drive most GMV due to sheer volume (~78% of catalog).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66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Video-enabled listings more than double average units sold versus listings without video.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Is Concentrated, Not Evenly Spread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categories and brands generate the most Gross Merchandise Value?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37160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Backpacks &amp; Suitcases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8745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4th-largest category by listing count, but #1 by GMV — average price (~497K VND) is the highest of any category.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95160" y="3520440"/>
            <a:ext cx="4754880" cy="2057400"/>
          </a:xfrm>
          <a:prstGeom prst="roundRect">
            <a:avLst>
              <a:gd name="adj" fmla="val 266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2376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brand: HARAS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402336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~3.7B VND GMV from just 54 products — a high-volume, mid-price strategy. Converse reaches similar GMV via a lower-volume, premium approach instead.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of Top Sellers Carry a Quality Risk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classified by GMV and rating against the market median (BCG-style quadrant)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361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Product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GMV, high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C0562A"/>
          </a:solidFill>
          <a:ln w="12700">
            <a:solidFill>
              <a:srgbClr val="C056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361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–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Satisfaction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GMV, low rating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107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480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GMV, high 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24612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34107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480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GMV, low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96596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'High Demand – Low Satisfaction' is the single largest GMV contributor of the four segments — larger than genuine Star Products.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a meaningful share of the platform's best-selling products carry below-average ratings: a potential quality risk that could affect retention if unaddressed.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is the only quality signal in this dataset, so the exact cause (product, delivery, or service) can't be confirmed here — but the pattern is large enough to warrant investigation.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Pricing Wins on Volume, Not Discounts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questions: which price segments perform best, and do discounts actually work?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4173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Full-price listings (~78% of the catalog) still generate the most total GMV — larger discounts lift average sales but don't outweigh sheer volume.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Doesn't Guarantee Top Ratings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questions: which sellers drive performance, and does richer content help sales?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HARASMALL leads with ~3.85B VND GMV and a strong 3.99 rating.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several other top-15 sellers by GMV — House Of Luggage, WearVN — show ratings of just 1.6-2.0 despite high revenue.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a cluster of sellers with 20+ listings recorded zero units sold: likely dormant accounts worth flagging for operational review.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Content Quality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659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Video-enabled listings average 34.3 units sold vs 15.9 without — more than double — alongside a notably higher rating (2.35 vs 1.27).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with 10+ images average 42.1 units sold, vs 14.3-15.6 for listings with 4-10 images.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Pay-later availability tracks with higher-ticket items (513K vs 79K VND avg price), rather than acting as a broad sales driver.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first, based on the patterns above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18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quality risk first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'High Demand – Low Satisfaction' products — the single largest concentrated risk to GMV in the catalog.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618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video content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1031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sellers toward adding product video, given its strong association with both sales volume and rating.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13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dormant sellers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9768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sellers with 20+ listings and zero recorded sales for account-status issues.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13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 category norms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29768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budget-tier pricing for new listings — it outperforms premium/luxury tiers in nearly every category.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3-page Power BI report — Executive Overview, Product &amp; Pricing Drill-down, and Partner &amp; Operational Performance — is available in the project repository as a downloadable .pbix file.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github.com/Nguyentrong243/Tiki-E-commerce-Analysis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</Words>
  <Application>Microsoft Office PowerPoint</Application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Phuc Trong</cp:lastModifiedBy>
  <cp:revision>2</cp:revision>
  <dcterms:created xsi:type="dcterms:W3CDTF">2026-08-27T08:08:12Z</dcterms:created>
  <dcterms:modified xsi:type="dcterms:W3CDTF">2026-08-27T08:31:18Z</dcterms:modified>
</cp:coreProperties>
</file>